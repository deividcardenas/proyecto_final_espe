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397192" cy="43196256"/>
  <p:notesSz cx="43196256" cy="3239719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4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2400" b="0" i="0" u="none" strike="noStrike">
                <a:solidFill>
                  <a:srgbClr val="1B2733"/>
                </a:solidFill>
                <a:latin typeface="Calibri"/>
              </a:rPr>
              <a:t>Graves captados en el 10 % priorizado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del top 10 %</c:v>
                </c:pt>
              </c:strCache>
            </c:strRef>
          </c:tx>
          <c:spPr>
            <a:solidFill>
              <a:srgbClr val="D9620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62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C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C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6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Regresión logística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Azar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41.5</c:v>
                </c:pt>
                <c:pt idx="1">
                  <c:v>40.1</c:v>
                </c:pt>
                <c:pt idx="2">
                  <c:v>38.1</c:v>
                </c:pt>
                <c:pt idx="3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8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E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4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2400" b="0" i="0" u="none" strike="noStrike">
                <a:solidFill>
                  <a:srgbClr val="1B2733"/>
                </a:solidFill>
                <a:latin typeface="Calibri"/>
              </a:rPr>
              <a:t>% de siniestros graves según límite (mph)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graves</c:v>
                </c:pt>
              </c:strCache>
            </c:strRef>
          </c:tx>
          <c:spPr>
            <a:solidFill>
              <a:srgbClr val="D9620E"/>
            </a:solidFill>
            <a:ln w="50800" cap="flat">
              <a:solidFill>
                <a:srgbClr val="D9620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9620E"/>
              </a:solidFill>
              <a:ln w="9525" cap="flat">
                <a:solidFill>
                  <a:srgbClr val="D962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20</c:v>
                  </c:pt>
                  <c:pt idx="2">
                    <c:v>25</c:v>
                  </c:pt>
                  <c:pt idx="3">
                    <c:v>30</c:v>
                  </c:pt>
                  <c:pt idx="4">
                    <c:v>35</c:v>
                  </c:pt>
                  <c:pt idx="5">
                    <c:v>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0.68</c:v>
                </c:pt>
                <c:pt idx="1">
                  <c:v>0.99</c:v>
                </c:pt>
                <c:pt idx="2">
                  <c:v>1.23</c:v>
                </c:pt>
                <c:pt idx="3">
                  <c:v>1.63</c:v>
                </c:pt>
                <c:pt idx="4">
                  <c:v>2.36</c:v>
                </c:pt>
                <c:pt idx="5">
                  <c:v>3.48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800" u="none">
                  <a:solidFill>
                    <a:srgbClr val="1B27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E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5" Type="http://schemas.openxmlformats.org/officeDocument/2006/relationships/image" Target="../media/image-1-3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397192" cy="6492240"/>
          </a:xfrm>
          <a:prstGeom prst="rect">
            <a:avLst/>
          </a:prstGeom>
          <a:solidFill>
            <a:srgbClr val="0B1C2C"/>
          </a:solidFill>
          <a:ln w="12700">
            <a:solidFill>
              <a:srgbClr val="0B1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749808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Logo Universidad CESM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6858000" cy="2386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4069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Big Data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617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 avance · 2026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868680"/>
            <a:ext cx="2176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Road Risk</a:t>
            </a:r>
            <a:endParaRPr lang="en-US" sz="92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331720"/>
            <a:ext cx="2176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modelado predictivo geoespacial para priorizar intervenciones de seguridad vial en la Ciudad de Chicago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4343400"/>
            <a:ext cx="2176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Deivid Julian Cardenas Melo  ·  Dillan Alexander Cardenas Melo  ·  Camilo Escandón Romero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CESMAG · San Juan de Pasto, Colombia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97280" y="736092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7360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731520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8549640"/>
            <a:ext cx="9579864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publica cada día los reportes policiales de sus accidentes de tránsito, junto con los permisos de obra y los aforos vehiculares. Son datos abiertos, pero están separados en cinco fuentes, tienen errores de ubicación y nadie los cruza entre sí.</a:t>
            </a:r>
            <a:endParaRPr lang="en-US" sz="250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plataforma que los integra, los limpia y los relaciona en el espacio para responder una pregunta práctica: dónde conviene intervenir primero. Todo con herramientas de código abierto y contenedores Docker.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11408664" y="736092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408664" y="7360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2460224" y="731520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4600" dirty="0"/>
          </a:p>
        </p:txBody>
      </p:sp>
      <p:sp>
        <p:nvSpPr>
          <p:cNvPr id="17" name="Text 14"/>
          <p:cNvSpPr txBox="1"/>
          <p:nvPr/>
        </p:nvSpPr>
        <p:spPr>
          <a:xfrm>
            <a:off x="11408664" y="8549640"/>
            <a:ext cx="9579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enero de 2023 y octubre de 2026 la ciudad registró más de 418 mil siniestros. Los graves son pocos y están dispersos, y el presupuesto para reformar vías alcanza para pocos tramos.</a:t>
            </a:r>
            <a:endParaRPr lang="en-US" sz="2500" dirty="0"/>
          </a:p>
        </p:txBody>
      </p:sp>
      <p:sp>
        <p:nvSpPr>
          <p:cNvPr id="18" name="Shape 15"/>
          <p:cNvSpPr/>
          <p:nvPr/>
        </p:nvSpPr>
        <p:spPr>
          <a:xfrm>
            <a:off x="11408664" y="11384280"/>
            <a:ext cx="2964688" cy="2377440"/>
          </a:xfrm>
          <a:prstGeom prst="roundRect">
            <a:avLst>
              <a:gd name="adj" fmla="val 461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08664" y="1156716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418.170</a:t>
            </a:r>
            <a:endParaRPr lang="en-US" sz="5000" dirty="0"/>
          </a:p>
        </p:txBody>
      </p:sp>
      <p:sp>
        <p:nvSpPr>
          <p:cNvPr id="20" name="Text 17"/>
          <p:cNvSpPr txBox="1"/>
          <p:nvPr/>
        </p:nvSpPr>
        <p:spPr>
          <a:xfrm>
            <a:off x="11545824" y="12618720"/>
            <a:ext cx="269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analizados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4601952" y="11384280"/>
            <a:ext cx="2964688" cy="2377440"/>
          </a:xfrm>
          <a:prstGeom prst="roundRect">
            <a:avLst>
              <a:gd name="adj" fmla="val 4615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601952" y="1156716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5000" dirty="0"/>
          </a:p>
        </p:txBody>
      </p:sp>
      <p:sp>
        <p:nvSpPr>
          <p:cNvPr id="23" name="Text 20"/>
          <p:cNvSpPr txBox="1"/>
          <p:nvPr/>
        </p:nvSpPr>
        <p:spPr>
          <a:xfrm>
            <a:off x="14739112" y="12618720"/>
            <a:ext cx="269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fallecidas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7795240" y="11384280"/>
            <a:ext cx="2964688" cy="2377440"/>
          </a:xfrm>
          <a:prstGeom prst="roundRect">
            <a:avLst>
              <a:gd name="adj" fmla="val 4615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7795240" y="11567160"/>
            <a:ext cx="296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1,6 %</a:t>
            </a:r>
            <a:endParaRPr lang="en-US" sz="5000" dirty="0"/>
          </a:p>
        </p:txBody>
      </p:sp>
      <p:sp>
        <p:nvSpPr>
          <p:cNvPr id="26" name="Text 23"/>
          <p:cNvSpPr txBox="1"/>
          <p:nvPr/>
        </p:nvSpPr>
        <p:spPr>
          <a:xfrm>
            <a:off x="17932400" y="12618720"/>
            <a:ext cx="269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graves o fatales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1408664" y="14036040"/>
            <a:ext cx="9579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decisión: </a:t>
            </a:r>
            <a:pPr indent="0" marL="0">
              <a:buNone/>
            </a:pPr>
            <a:r>
              <a:rPr lang="en-US" sz="250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 los resultados de un modelo predictivo para priorizar las intervenciones preventivas en los tramos viales de mayor riesgo?</a:t>
            </a:r>
            <a:endParaRPr lang="en-US" sz="2500" dirty="0"/>
          </a:p>
        </p:txBody>
      </p:sp>
      <p:sp>
        <p:nvSpPr>
          <p:cNvPr id="28" name="Shape 25"/>
          <p:cNvSpPr/>
          <p:nvPr/>
        </p:nvSpPr>
        <p:spPr>
          <a:xfrm>
            <a:off x="21720048" y="736092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1720048" y="7360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22771608" y="7315200"/>
            <a:ext cx="852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4600" dirty="0"/>
          </a:p>
        </p:txBody>
      </p:sp>
      <p:sp>
        <p:nvSpPr>
          <p:cNvPr id="31" name="Text 28"/>
          <p:cNvSpPr txBox="1"/>
          <p:nvPr/>
        </p:nvSpPr>
        <p:spPr>
          <a:xfrm>
            <a:off x="21720048" y="8549640"/>
            <a:ext cx="9579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General. </a:t>
            </a:r>
            <a:pPr indent="0" marL="0">
              <a:buNone/>
            </a:pPr>
            <a:r>
              <a:rPr lang="en-US" sz="25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analítica geoespacial que clasifique y anticipe los tramos viales de mayor riesgo en Chicago.</a:t>
            </a:r>
            <a:endParaRPr lang="en-US" sz="2500" dirty="0"/>
          </a:p>
        </p:txBody>
      </p:sp>
      <p:sp>
        <p:nvSpPr>
          <p:cNvPr id="32" name="Shape 29"/>
          <p:cNvSpPr/>
          <p:nvPr/>
        </p:nvSpPr>
        <p:spPr>
          <a:xfrm>
            <a:off x="21720048" y="105156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D9F1F3"/>
          </a:solidFill>
          <a:ln w="12700">
            <a:solidFill>
              <a:srgbClr val="D9F1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720048" y="10515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23274528" y="10515600"/>
            <a:ext cx="8025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base de datos geoespacial en PostgreSQL + PostGIS.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21720048" y="118872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D9F1F3"/>
          </a:solidFill>
          <a:ln w="12700">
            <a:solidFill>
              <a:srgbClr val="D9F1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1720048" y="118872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23274528" y="11887200"/>
            <a:ext cx="8025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ETL con limpieza y cruce espacial a 250 m.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21720048" y="132588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D9F1F3"/>
          </a:solidFill>
          <a:ln w="12700">
            <a:solidFill>
              <a:srgbClr val="D9F1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1720048" y="132588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23274528" y="13258800"/>
            <a:ext cx="8025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modelos que clasifiquen tramos por nivel de riesgo.</a:t>
            </a:r>
            <a:endParaRPr lang="en-US" sz="2400" dirty="0"/>
          </a:p>
        </p:txBody>
      </p:sp>
      <p:sp>
        <p:nvSpPr>
          <p:cNvPr id="41" name="Shape 38"/>
          <p:cNvSpPr/>
          <p:nvPr/>
        </p:nvSpPr>
        <p:spPr>
          <a:xfrm>
            <a:off x="21720048" y="1463040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D9F1F3"/>
          </a:solidFill>
          <a:ln w="12700">
            <a:solidFill>
              <a:srgbClr val="D9F1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1720048" y="146304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2400" dirty="0"/>
          </a:p>
        </p:txBody>
      </p:sp>
      <p:sp>
        <p:nvSpPr>
          <p:cNvPr id="43" name="Text 40"/>
          <p:cNvSpPr txBox="1"/>
          <p:nvPr/>
        </p:nvSpPr>
        <p:spPr>
          <a:xfrm>
            <a:off x="23274528" y="14630400"/>
            <a:ext cx="8025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los resultados en una aplicación web cartográfica.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1097280" y="1687068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97280" y="16870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2148840" y="16824960"/>
            <a:ext cx="18839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4600" dirty="0"/>
          </a:p>
        </p:txBody>
      </p:sp>
      <p:sp>
        <p:nvSpPr>
          <p:cNvPr id="47" name="Shape 44"/>
          <p:cNvSpPr/>
          <p:nvPr/>
        </p:nvSpPr>
        <p:spPr>
          <a:xfrm>
            <a:off x="1097280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97280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SODA</a:t>
            </a:r>
            <a:endParaRPr lang="en-US" sz="2800" dirty="0"/>
          </a:p>
        </p:txBody>
      </p:sp>
      <p:sp>
        <p:nvSpPr>
          <p:cNvPr id="49" name="Text 46"/>
          <p:cNvSpPr txBox="1"/>
          <p:nvPr/>
        </p:nvSpPr>
        <p:spPr>
          <a:xfrm>
            <a:off x="1188720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abiertos</a:t>
            </a:r>
            <a:endParaRPr lang="en-US" sz="1900" dirty="0"/>
          </a:p>
        </p:txBody>
      </p:sp>
      <p:sp>
        <p:nvSpPr>
          <p:cNvPr id="50" name="Shape 47"/>
          <p:cNvSpPr/>
          <p:nvPr/>
        </p:nvSpPr>
        <p:spPr>
          <a:xfrm rot="5400000">
            <a:off x="4122928" y="18928080"/>
            <a:ext cx="274320" cy="45720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488688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488688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800" dirty="0"/>
          </a:p>
        </p:txBody>
      </p:sp>
      <p:sp>
        <p:nvSpPr>
          <p:cNvPr id="53" name="Text 50"/>
          <p:cNvSpPr txBox="1"/>
          <p:nvPr/>
        </p:nvSpPr>
        <p:spPr>
          <a:xfrm>
            <a:off x="4580128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crudo</a:t>
            </a:r>
            <a:endParaRPr lang="en-US" sz="1900" dirty="0"/>
          </a:p>
        </p:txBody>
      </p:sp>
      <p:sp>
        <p:nvSpPr>
          <p:cNvPr id="54" name="Shape 51"/>
          <p:cNvSpPr/>
          <p:nvPr/>
        </p:nvSpPr>
        <p:spPr>
          <a:xfrm rot="5400000">
            <a:off x="7514336" y="18928080"/>
            <a:ext cx="274320" cy="45720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880096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80096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800" dirty="0"/>
          </a:p>
        </p:txBody>
      </p:sp>
      <p:sp>
        <p:nvSpPr>
          <p:cNvPr id="57" name="Text 54"/>
          <p:cNvSpPr txBox="1"/>
          <p:nvPr/>
        </p:nvSpPr>
        <p:spPr>
          <a:xfrm>
            <a:off x="7971536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900" dirty="0"/>
          </a:p>
        </p:txBody>
      </p:sp>
      <p:sp>
        <p:nvSpPr>
          <p:cNvPr id="58" name="Shape 55"/>
          <p:cNvSpPr/>
          <p:nvPr/>
        </p:nvSpPr>
        <p:spPr>
          <a:xfrm rot="5400000">
            <a:off x="10905744" y="18928080"/>
            <a:ext cx="274320" cy="45720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271504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1271504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800" dirty="0"/>
          </a:p>
        </p:txBody>
      </p:sp>
      <p:sp>
        <p:nvSpPr>
          <p:cNvPr id="61" name="Text 58"/>
          <p:cNvSpPr txBox="1"/>
          <p:nvPr/>
        </p:nvSpPr>
        <p:spPr>
          <a:xfrm>
            <a:off x="11362944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(OLAP)</a:t>
            </a:r>
            <a:endParaRPr lang="en-US" sz="1900" dirty="0"/>
          </a:p>
        </p:txBody>
      </p:sp>
      <p:sp>
        <p:nvSpPr>
          <p:cNvPr id="62" name="Shape 59"/>
          <p:cNvSpPr/>
          <p:nvPr/>
        </p:nvSpPr>
        <p:spPr>
          <a:xfrm rot="5400000">
            <a:off x="14297152" y="18928080"/>
            <a:ext cx="274320" cy="45720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4662912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D9620E"/>
          </a:solidFill>
          <a:ln w="12700">
            <a:solidFill>
              <a:srgbClr val="D9620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4662912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2800" dirty="0"/>
          </a:p>
        </p:txBody>
      </p:sp>
      <p:sp>
        <p:nvSpPr>
          <p:cNvPr id="65" name="Text 62"/>
          <p:cNvSpPr txBox="1"/>
          <p:nvPr/>
        </p:nvSpPr>
        <p:spPr>
          <a:xfrm>
            <a:off x="14754352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· RF · XGBoost</a:t>
            </a:r>
            <a:endParaRPr lang="en-US" sz="1900" dirty="0"/>
          </a:p>
        </p:txBody>
      </p:sp>
      <p:sp>
        <p:nvSpPr>
          <p:cNvPr id="66" name="Shape 63"/>
          <p:cNvSpPr/>
          <p:nvPr/>
        </p:nvSpPr>
        <p:spPr>
          <a:xfrm rot="5400000">
            <a:off x="17688560" y="18928080"/>
            <a:ext cx="274320" cy="457200"/>
          </a:xfrm>
          <a:prstGeom prst="triangle">
            <a:avLst/>
          </a:prstGeom>
          <a:solidFill>
            <a:srgbClr val="5E6B77"/>
          </a:solidFill>
          <a:ln w="12700">
            <a:solidFill>
              <a:srgbClr val="5E6B7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8054320" y="18150840"/>
            <a:ext cx="2934208" cy="2011680"/>
          </a:xfrm>
          <a:prstGeom prst="roundRect">
            <a:avLst>
              <a:gd name="adj" fmla="val 6364"/>
            </a:avLst>
          </a:prstGeom>
          <a:solidFill>
            <a:srgbClr val="12293D"/>
          </a:solidFill>
          <a:ln w="12700">
            <a:solidFill>
              <a:srgbClr val="12293D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8054320" y="18425160"/>
            <a:ext cx="293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2800" dirty="0"/>
          </a:p>
        </p:txBody>
      </p:sp>
      <p:sp>
        <p:nvSpPr>
          <p:cNvPr id="69" name="Text 66"/>
          <p:cNvSpPr txBox="1"/>
          <p:nvPr/>
        </p:nvSpPr>
        <p:spPr>
          <a:xfrm>
            <a:off x="18145760" y="19156680"/>
            <a:ext cx="275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MapLibre</a:t>
            </a:r>
            <a:endParaRPr lang="en-US" sz="1900" dirty="0"/>
          </a:p>
        </p:txBody>
      </p:sp>
      <p:sp>
        <p:nvSpPr>
          <p:cNvPr id="70" name="Text 67"/>
          <p:cNvSpPr txBox="1"/>
          <p:nvPr/>
        </p:nvSpPr>
        <p:spPr>
          <a:xfrm>
            <a:off x="1097280" y="20619720"/>
            <a:ext cx="6264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calidad</a:t>
            </a:r>
            <a:endParaRPr lang="en-US" sz="2800" dirty="0"/>
          </a:p>
        </p:txBody>
      </p:sp>
      <p:sp>
        <p:nvSpPr>
          <p:cNvPr id="71" name="Text 68"/>
          <p:cNvSpPr txBox="1"/>
          <p:nvPr/>
        </p:nvSpPr>
        <p:spPr>
          <a:xfrm>
            <a:off x="1097280" y="21351240"/>
            <a:ext cx="626465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Descargamos 2,6 millones de registros desde 2023 con paginación y reintentos. Validamos tipos, quitamos duplicados y apartamos en cuarentena los puntos fuera de Chicago (4.456 sin coordenadas válidas). Eliminamos datos personales de las víctimas.</a:t>
            </a:r>
            <a:endParaRPr lang="en-US" sz="2300" dirty="0"/>
          </a:p>
        </p:txBody>
      </p:sp>
      <p:sp>
        <p:nvSpPr>
          <p:cNvPr id="72" name="Text 69"/>
          <p:cNvSpPr txBox="1"/>
          <p:nvPr/>
        </p:nvSpPr>
        <p:spPr>
          <a:xfrm>
            <a:off x="7910576" y="20619720"/>
            <a:ext cx="6264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espacial</a:t>
            </a:r>
            <a:endParaRPr lang="en-US" sz="2800" dirty="0"/>
          </a:p>
        </p:txBody>
      </p:sp>
      <p:sp>
        <p:nvSpPr>
          <p:cNvPr id="73" name="Text 70"/>
          <p:cNvSpPr txBox="1"/>
          <p:nvPr/>
        </p:nvSpPr>
        <p:spPr>
          <a:xfrm>
            <a:off x="7910576" y="21351240"/>
            <a:ext cx="626465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siniestro se cruzó con la estación de aforo más cercana (vecino más próximo) y con las obras con cierre de calzada vigentes a menos de 250 m. Las distancias se miden en la proyección EPSG:3435 de Illinois, en metros reales.</a:t>
            </a:r>
            <a:endParaRPr lang="en-US" sz="2300" dirty="0"/>
          </a:p>
        </p:txBody>
      </p:sp>
      <p:sp>
        <p:nvSpPr>
          <p:cNvPr id="74" name="Text 71"/>
          <p:cNvSpPr txBox="1"/>
          <p:nvPr/>
        </p:nvSpPr>
        <p:spPr>
          <a:xfrm>
            <a:off x="14723872" y="20619720"/>
            <a:ext cx="6264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validación</a:t>
            </a:r>
            <a:endParaRPr lang="en-US" sz="2800" dirty="0"/>
          </a:p>
        </p:txBody>
      </p:sp>
      <p:sp>
        <p:nvSpPr>
          <p:cNvPr id="75" name="Text 72"/>
          <p:cNvSpPr txBox="1"/>
          <p:nvPr/>
        </p:nvSpPr>
        <p:spPr>
          <a:xfrm>
            <a:off x="14723872" y="21351240"/>
            <a:ext cx="626465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predicción es la cuadra. Con 12 meses de historia se anticipa su riesgo de los 12 siguientes. Entrenamos con 2023 → 2024 y evaluamos prediciendo 2025, más validación cruzada por bloques espaciales de 2 km.</a:t>
            </a:r>
            <a:endParaRPr lang="en-US" sz="2300" dirty="0"/>
          </a:p>
        </p:txBody>
      </p:sp>
      <p:sp>
        <p:nvSpPr>
          <p:cNvPr id="76" name="Shape 73"/>
          <p:cNvSpPr/>
          <p:nvPr/>
        </p:nvSpPr>
        <p:spPr>
          <a:xfrm>
            <a:off x="21720048" y="16824960"/>
            <a:ext cx="9579864" cy="16367760"/>
          </a:xfrm>
          <a:prstGeom prst="roundRect">
            <a:avLst>
              <a:gd name="adj" fmla="val 1432"/>
            </a:avLst>
          </a:prstGeom>
          <a:solidFill>
            <a:srgbClr val="04101A"/>
          </a:solidFill>
          <a:ln w="12700">
            <a:solidFill>
              <a:srgbClr val="04101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2177248" y="17190720"/>
            <a:ext cx="866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ocurren y dónde intervenir</a:t>
            </a:r>
            <a:endParaRPr lang="en-US" sz="3000" dirty="0"/>
          </a:p>
        </p:txBody>
      </p:sp>
      <p:pic>
        <p:nvPicPr>
          <p:cNvPr id="78" name="Image 1" descr="Mapa de los 418 mil siniestros de Chicago con los graves y las cuadras prioriz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808" y="18059400"/>
            <a:ext cx="8848344" cy="11797792"/>
          </a:xfrm>
          <a:prstGeom prst="rect">
            <a:avLst/>
          </a:prstGeom>
        </p:spPr>
      </p:pic>
      <p:sp>
        <p:nvSpPr>
          <p:cNvPr id="79" name="Shape 75"/>
          <p:cNvSpPr/>
          <p:nvPr/>
        </p:nvSpPr>
        <p:spPr>
          <a:xfrm>
            <a:off x="22268688" y="30222952"/>
            <a:ext cx="320040" cy="320040"/>
          </a:xfrm>
          <a:prstGeom prst="ellipse">
            <a:avLst/>
          </a:prstGeom>
          <a:solidFill>
            <a:srgbClr val="2FD8EA"/>
          </a:solidFill>
          <a:ln w="6350">
            <a:solidFill>
              <a:srgbClr val="2FD8EA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22771608" y="30131512"/>
            <a:ext cx="811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 (2023–2026)</a:t>
            </a:r>
            <a:endParaRPr lang="en-US" sz="2100" dirty="0"/>
          </a:p>
        </p:txBody>
      </p:sp>
      <p:sp>
        <p:nvSpPr>
          <p:cNvPr id="81" name="Shape 77"/>
          <p:cNvSpPr/>
          <p:nvPr/>
        </p:nvSpPr>
        <p:spPr>
          <a:xfrm>
            <a:off x="22268688" y="30789880"/>
            <a:ext cx="320040" cy="320040"/>
          </a:xfrm>
          <a:prstGeom prst="ellipse">
            <a:avLst/>
          </a:prstGeom>
          <a:solidFill>
            <a:srgbClr val="FF8A1F"/>
          </a:solidFill>
          <a:ln w="6350">
            <a:solidFill>
              <a:srgbClr val="FF8A1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22771608" y="30698440"/>
            <a:ext cx="811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 grave o fatal</a:t>
            </a:r>
            <a:endParaRPr lang="en-US" sz="2100" dirty="0"/>
          </a:p>
        </p:txBody>
      </p:sp>
      <p:sp>
        <p:nvSpPr>
          <p:cNvPr id="83" name="Shape 79"/>
          <p:cNvSpPr/>
          <p:nvPr/>
        </p:nvSpPr>
        <p:spPr>
          <a:xfrm>
            <a:off x="22268688" y="31356808"/>
            <a:ext cx="320040" cy="320040"/>
          </a:xfrm>
          <a:prstGeom prst="ellipse">
            <a:avLst/>
          </a:prstGeom>
          <a:solidFill>
            <a:srgbClr val="04101A"/>
          </a:solidFill>
          <a:ln w="25400">
            <a:solidFill>
              <a:srgbClr val="F4FBFF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22771608" y="31265368"/>
            <a:ext cx="8116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 en el 10 % priorizado</a:t>
            </a:r>
            <a:endParaRPr lang="en-US" sz="2100" dirty="0"/>
          </a:p>
        </p:txBody>
      </p:sp>
      <p:sp>
        <p:nvSpPr>
          <p:cNvPr id="85" name="Shape 81"/>
          <p:cNvSpPr/>
          <p:nvPr/>
        </p:nvSpPr>
        <p:spPr>
          <a:xfrm>
            <a:off x="1097280" y="2455164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1097280" y="2455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87" name="Text 83"/>
          <p:cNvSpPr txBox="1"/>
          <p:nvPr/>
        </p:nvSpPr>
        <p:spPr>
          <a:xfrm>
            <a:off x="2148840" y="24505920"/>
            <a:ext cx="18839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4600" dirty="0"/>
          </a:p>
        </p:txBody>
      </p:sp>
      <p:sp>
        <p:nvSpPr>
          <p:cNvPr id="88" name="Shape 84"/>
          <p:cNvSpPr/>
          <p:nvPr/>
        </p:nvSpPr>
        <p:spPr>
          <a:xfrm>
            <a:off x="1097280" y="25831800"/>
            <a:ext cx="6400800" cy="6949440"/>
          </a:xfrm>
          <a:prstGeom prst="roundRect">
            <a:avLst>
              <a:gd name="adj" fmla="val 2143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1097280" y="261975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41,5 %</a:t>
            </a:r>
            <a:endParaRPr lang="en-US" sz="11000" dirty="0"/>
          </a:p>
        </p:txBody>
      </p:sp>
      <p:sp>
        <p:nvSpPr>
          <p:cNvPr id="90" name="Text 86"/>
          <p:cNvSpPr txBox="1"/>
          <p:nvPr/>
        </p:nvSpPr>
        <p:spPr>
          <a:xfrm>
            <a:off x="1508760" y="2807208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siniestros graves de 2025 ocurrió en el 10 % de cuadras que el modelo priorizó con datos de 2024</a:t>
            </a:r>
            <a:endParaRPr lang="en-US" sz="2500" dirty="0"/>
          </a:p>
        </p:txBody>
      </p:sp>
      <p:sp>
        <p:nvSpPr>
          <p:cNvPr id="91" name="Text 87"/>
          <p:cNvSpPr txBox="1"/>
          <p:nvPr/>
        </p:nvSpPr>
        <p:spPr>
          <a:xfrm>
            <a:off x="1508760" y="303123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veces más que elegir cuadras al azar</a:t>
            </a:r>
            <a:endParaRPr lang="en-US" sz="2400" dirty="0"/>
          </a:p>
        </p:txBody>
      </p:sp>
      <p:sp>
        <p:nvSpPr>
          <p:cNvPr id="92" name="Text 88"/>
          <p:cNvSpPr txBox="1"/>
          <p:nvPr/>
        </p:nvSpPr>
        <p:spPr>
          <a:xfrm>
            <a:off x="1508760" y="314096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0,80 · recall 0,62 · 21.416 cuadras</a:t>
            </a:r>
            <a:endParaRPr lang="en-US" sz="2200" dirty="0"/>
          </a:p>
        </p:txBody>
      </p:sp>
      <p:graphicFrame>
        <p:nvGraphicFramePr>
          <p:cNvPr id="93" name="Chart 0" descr=""/>
          <p:cNvGraphicFramePr/>
          <p:nvPr/>
        </p:nvGraphicFramePr>
        <p:xfrm>
          <a:off x="7863840" y="25740360"/>
          <a:ext cx="6400800" cy="7132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4" name="Chart 1" descr=""/>
          <p:cNvGraphicFramePr/>
          <p:nvPr/>
        </p:nvGraphicFramePr>
        <p:xfrm>
          <a:off x="14630400" y="25740360"/>
          <a:ext cx="6358128" cy="7132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5" name="Shape 89"/>
          <p:cNvSpPr/>
          <p:nvPr/>
        </p:nvSpPr>
        <p:spPr>
          <a:xfrm>
            <a:off x="1097280" y="33238440"/>
            <a:ext cx="4698492" cy="1554480"/>
          </a:xfrm>
          <a:prstGeom prst="roundRect">
            <a:avLst>
              <a:gd name="adj" fmla="val 588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6" name="Text 90"/>
          <p:cNvSpPr txBox="1"/>
          <p:nvPr/>
        </p:nvSpPr>
        <p:spPr>
          <a:xfrm>
            <a:off x="1371600" y="33421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98,9 %</a:t>
            </a:r>
            <a:endParaRPr lang="en-US" sz="4000" dirty="0"/>
          </a:p>
        </p:txBody>
      </p:sp>
      <p:sp>
        <p:nvSpPr>
          <p:cNvPr id="97" name="Text 91"/>
          <p:cNvSpPr txBox="1"/>
          <p:nvPr/>
        </p:nvSpPr>
        <p:spPr>
          <a:xfrm>
            <a:off x="3337560" y="33421320"/>
            <a:ext cx="22753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procesados con éxito</a:t>
            </a:r>
            <a:endParaRPr lang="en-US" sz="2100" dirty="0"/>
          </a:p>
        </p:txBody>
      </p:sp>
      <p:sp>
        <p:nvSpPr>
          <p:cNvPr id="98" name="Shape 92"/>
          <p:cNvSpPr/>
          <p:nvPr/>
        </p:nvSpPr>
        <p:spPr>
          <a:xfrm>
            <a:off x="6161532" y="33238440"/>
            <a:ext cx="4698492" cy="1554480"/>
          </a:xfrm>
          <a:prstGeom prst="roundRect">
            <a:avLst>
              <a:gd name="adj" fmla="val 588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9" name="Text 93"/>
          <p:cNvSpPr txBox="1"/>
          <p:nvPr/>
        </p:nvSpPr>
        <p:spPr>
          <a:xfrm>
            <a:off x="6435852" y="33421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4000" dirty="0"/>
          </a:p>
        </p:txBody>
      </p:sp>
      <p:sp>
        <p:nvSpPr>
          <p:cNvPr id="100" name="Text 94"/>
          <p:cNvSpPr txBox="1"/>
          <p:nvPr/>
        </p:nvSpPr>
        <p:spPr>
          <a:xfrm>
            <a:off x="8401812" y="33421320"/>
            <a:ext cx="22753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tras la limpieza</a:t>
            </a:r>
            <a:endParaRPr lang="en-US" sz="2100" dirty="0"/>
          </a:p>
        </p:txBody>
      </p:sp>
      <p:sp>
        <p:nvSpPr>
          <p:cNvPr id="101" name="Shape 95"/>
          <p:cNvSpPr/>
          <p:nvPr/>
        </p:nvSpPr>
        <p:spPr>
          <a:xfrm>
            <a:off x="11225784" y="33238440"/>
            <a:ext cx="4698492" cy="1554480"/>
          </a:xfrm>
          <a:prstGeom prst="roundRect">
            <a:avLst>
              <a:gd name="adj" fmla="val 588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02" name="Text 96"/>
          <p:cNvSpPr txBox="1"/>
          <p:nvPr/>
        </p:nvSpPr>
        <p:spPr>
          <a:xfrm>
            <a:off x="11500104" y="33421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4000" dirty="0"/>
          </a:p>
        </p:txBody>
      </p:sp>
      <p:sp>
        <p:nvSpPr>
          <p:cNvPr id="103" name="Text 97"/>
          <p:cNvSpPr txBox="1"/>
          <p:nvPr/>
        </p:nvSpPr>
        <p:spPr>
          <a:xfrm>
            <a:off x="13466064" y="33421320"/>
            <a:ext cx="22753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graves los atropellos</a:t>
            </a:r>
            <a:endParaRPr lang="en-US" sz="2100" dirty="0"/>
          </a:p>
        </p:txBody>
      </p:sp>
      <p:sp>
        <p:nvSpPr>
          <p:cNvPr id="104" name="Shape 98"/>
          <p:cNvSpPr/>
          <p:nvPr/>
        </p:nvSpPr>
        <p:spPr>
          <a:xfrm>
            <a:off x="16290036" y="33238440"/>
            <a:ext cx="4698492" cy="1554480"/>
          </a:xfrm>
          <a:prstGeom prst="roundRect">
            <a:avLst>
              <a:gd name="adj" fmla="val 5882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05" name="Text 99"/>
          <p:cNvSpPr txBox="1"/>
          <p:nvPr/>
        </p:nvSpPr>
        <p:spPr>
          <a:xfrm>
            <a:off x="16564356" y="33421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</a:t>
            </a:r>
            <a:endParaRPr lang="en-US" sz="4000" dirty="0"/>
          </a:p>
        </p:txBody>
      </p:sp>
      <p:sp>
        <p:nvSpPr>
          <p:cNvPr id="106" name="Text 100"/>
          <p:cNvSpPr txBox="1"/>
          <p:nvPr/>
        </p:nvSpPr>
        <p:spPr>
          <a:xfrm>
            <a:off x="18530316" y="33421320"/>
            <a:ext cx="22753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levantar la plataforma</a:t>
            </a:r>
            <a:endParaRPr lang="en-US" sz="2100" dirty="0"/>
          </a:p>
        </p:txBody>
      </p:sp>
      <p:sp>
        <p:nvSpPr>
          <p:cNvPr id="107" name="Text 101"/>
          <p:cNvSpPr txBox="1"/>
          <p:nvPr/>
        </p:nvSpPr>
        <p:spPr>
          <a:xfrm>
            <a:off x="21720048" y="33741360"/>
            <a:ext cx="9579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web</a:t>
            </a:r>
            <a:endParaRPr lang="en-US" sz="3000" dirty="0"/>
          </a:p>
        </p:txBody>
      </p:sp>
      <p:pic>
        <p:nvPicPr>
          <p:cNvPr id="108" name="Image 2" descr="Captura de la aplicación con el mapa de calor de siniestros, filtros y KP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20048" y="34610040"/>
            <a:ext cx="9579864" cy="5987415"/>
          </a:xfrm>
          <a:prstGeom prst="rect">
            <a:avLst/>
          </a:prstGeom>
        </p:spPr>
      </p:pic>
      <p:sp>
        <p:nvSpPr>
          <p:cNvPr id="109" name="Text 102"/>
          <p:cNvSpPr txBox="1"/>
          <p:nvPr/>
        </p:nvSpPr>
        <p:spPr>
          <a:xfrm>
            <a:off x="21720048" y="40826055"/>
            <a:ext cx="9579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WebGL con los 418 mil siniestros en teselas vectoriales, filtros por hora y severidad, lista de cuadras prioritarias y simulador de riesgo.</a:t>
            </a:r>
            <a:endParaRPr lang="en-US" sz="2100" dirty="0"/>
          </a:p>
        </p:txBody>
      </p:sp>
      <p:sp>
        <p:nvSpPr>
          <p:cNvPr id="110" name="Shape 103"/>
          <p:cNvSpPr/>
          <p:nvPr/>
        </p:nvSpPr>
        <p:spPr>
          <a:xfrm>
            <a:off x="1097280" y="358902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11" name="Text 104"/>
          <p:cNvSpPr txBox="1"/>
          <p:nvPr/>
        </p:nvSpPr>
        <p:spPr>
          <a:xfrm>
            <a:off x="1097280" y="3589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12" name="Text 105"/>
          <p:cNvSpPr txBox="1"/>
          <p:nvPr/>
        </p:nvSpPr>
        <p:spPr>
          <a:xfrm>
            <a:off x="2148840" y="3584448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600" dirty="0"/>
          </a:p>
        </p:txBody>
      </p:sp>
      <p:sp>
        <p:nvSpPr>
          <p:cNvPr id="113" name="Text 106"/>
          <p:cNvSpPr txBox="1"/>
          <p:nvPr/>
        </p:nvSpPr>
        <p:spPr>
          <a:xfrm>
            <a:off x="1097280" y="36987480"/>
            <a:ext cx="115214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Interviniendo el 10 % de cuadras que señala el modelo se atiende el lugar donde ocurrió el 41,5 % de los siniestros graves del año siguiente.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simple y explicable (regresión logística) prioriza tan bien como Random Forest y XGBoost.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Peatones, ciclistas, motociclistas y velocidad explican la gravedad: bajar de 30 a 25 mph en las cuadras priorizadas es la medida con más respaldo.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en casos graves (0,07) no alcanzó la meta: con 1,6 % de casos, conviene medir por captura y lift.</a:t>
            </a:r>
            <a:endParaRPr lang="en-US" sz="2300" dirty="0"/>
          </a:p>
        </p:txBody>
      </p:sp>
      <p:sp>
        <p:nvSpPr>
          <p:cNvPr id="114" name="Text 107"/>
          <p:cNvSpPr txBox="1"/>
          <p:nvPr/>
        </p:nvSpPr>
        <p:spPr>
          <a:xfrm>
            <a:off x="1097280" y="419709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documentación: github.com/DeividCardenas/proyecto_final_espe</a:t>
            </a:r>
            <a:endParaRPr lang="en-US" sz="1800" dirty="0"/>
          </a:p>
        </p:txBody>
      </p:sp>
      <p:sp>
        <p:nvSpPr>
          <p:cNvPr id="115" name="Shape 108"/>
          <p:cNvSpPr/>
          <p:nvPr/>
        </p:nvSpPr>
        <p:spPr>
          <a:xfrm>
            <a:off x="13258800" y="35890200"/>
            <a:ext cx="822960" cy="822960"/>
          </a:xfrm>
          <a:prstGeom prst="ellipse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</p:sp>
      <p:sp>
        <p:nvSpPr>
          <p:cNvPr id="116" name="Text 109"/>
          <p:cNvSpPr txBox="1"/>
          <p:nvPr/>
        </p:nvSpPr>
        <p:spPr>
          <a:xfrm>
            <a:off x="13258800" y="3589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17" name="Text 110"/>
          <p:cNvSpPr txBox="1"/>
          <p:nvPr/>
        </p:nvSpPr>
        <p:spPr>
          <a:xfrm>
            <a:off x="14310360" y="35844480"/>
            <a:ext cx="6678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</a:t>
            </a:r>
            <a:endParaRPr lang="en-US" sz="4600" dirty="0"/>
          </a:p>
        </p:txBody>
      </p:sp>
      <p:sp>
        <p:nvSpPr>
          <p:cNvPr id="118" name="Text 111"/>
          <p:cNvSpPr txBox="1"/>
          <p:nvPr/>
        </p:nvSpPr>
        <p:spPr>
          <a:xfrm>
            <a:off x="13258800" y="36987480"/>
            <a:ext cx="7729728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Chicago. (2026). Traffic Crashes – Crashes, Vehicles y People [Conjuntos de datos]. Chicago Data Portal. https://data.cityofchicago.org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Chicago. (2026). Transportation Department Permits [Conjunto de datos]. Chicago Data Portal.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Proceedings of KDD ’16, 785–794.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Ester, M., Kriegel, H.-P., Sander, J., &amp; Xu, X. (1996). A density-based algorithm for discovering clusters. Proceedings of KDD-96, 226–231.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JMLR, 12, 2825–2830.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Road Risk - Póster</dc:title>
  <dc:subject>PptxGenJS Presentation</dc:subject>
  <dc:creator>Deivid Cardenas, Dillan Alexander Cardenas, Camilo Escandón</dc:creator>
  <cp:lastModifiedBy>Deivid Cardenas, Dillan Alexander Cardenas, Camilo Escandón</cp:lastModifiedBy>
  <cp:revision>1</cp:revision>
  <dcterms:created xsi:type="dcterms:W3CDTF">2026-10-24T13:19:04Z</dcterms:created>
  <dcterms:modified xsi:type="dcterms:W3CDTF">2026-10-24T13:19:04Z</dcterms:modified>
</cp:coreProperties>
</file>