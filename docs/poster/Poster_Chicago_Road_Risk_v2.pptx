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397192" cy="43196256"/>
  <p:notesSz cx="43196256" cy="3239719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2300" b="0" i="0" u="none" strike="noStrike">
                <a:solidFill>
                  <a:srgbClr val="1B2733"/>
                </a:solidFill>
                <a:latin typeface="Calibri"/>
              </a:rPr>
              <a:t>Graves captados en el 10 % priorizado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</c:v>
                </c:pt>
              </c:strCache>
            </c:strRef>
          </c:tx>
          <c:spPr>
            <a:solidFill>
              <a:srgbClr val="D9620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62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C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C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6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Logística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Azar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41.5</c:v>
                </c:pt>
                <c:pt idx="1">
                  <c:v>40.1</c:v>
                </c:pt>
                <c:pt idx="2">
                  <c:v>38.1</c:v>
                </c:pt>
                <c:pt idx="3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8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4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E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2300" b="0" i="0" u="none" strike="noStrike">
                <a:solidFill>
                  <a:srgbClr val="1B2733"/>
                </a:solidFill>
                <a:latin typeface="Calibri"/>
              </a:rPr>
              <a:t>% de siniestros graves según límite de velocidad (mph)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graves</c:v>
                </c:pt>
              </c:strCache>
            </c:strRef>
          </c:tx>
          <c:spPr>
            <a:solidFill>
              <a:srgbClr val="D9620E"/>
            </a:solidFill>
            <a:ln w="50800" cap="flat">
              <a:solidFill>
                <a:srgbClr val="D9620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9620E"/>
              </a:solidFill>
              <a:ln w="9525" cap="flat">
                <a:solidFill>
                  <a:srgbClr val="D962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15</c:v>
                  </c:pt>
                  <c:pt idx="1">
                    <c:v>20</c:v>
                  </c:pt>
                  <c:pt idx="2">
                    <c:v>25</c:v>
                  </c:pt>
                  <c:pt idx="3">
                    <c:v>30</c:v>
                  </c:pt>
                  <c:pt idx="4">
                    <c:v>35</c:v>
                  </c:pt>
                  <c:pt idx="5">
                    <c:v>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0.68</c:v>
                </c:pt>
                <c:pt idx="1">
                  <c:v>0.99</c:v>
                </c:pt>
                <c:pt idx="2">
                  <c:v>1.23</c:v>
                </c:pt>
                <c:pt idx="3">
                  <c:v>1.63</c:v>
                </c:pt>
                <c:pt idx="4">
                  <c:v>2.36</c:v>
                </c:pt>
                <c:pt idx="5">
                  <c:v>3.48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800" u="none">
                  <a:solidFill>
                    <a:srgbClr val="1B273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4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E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397192" cy="6035040"/>
          </a:xfrm>
          <a:prstGeom prst="rect">
            <a:avLst/>
          </a:prstGeom>
          <a:solidFill>
            <a:srgbClr val="0B1C2C"/>
          </a:solidFill>
          <a:ln w="12700">
            <a:solidFill>
              <a:srgbClr val="0B1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868680"/>
            <a:ext cx="749808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Logo Universidad CESM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051560"/>
            <a:ext cx="6858000" cy="2386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Big Data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de avance · 2026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777240"/>
            <a:ext cx="2176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Road Risk</a:t>
            </a:r>
            <a:endParaRPr lang="en-US" sz="92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240280"/>
            <a:ext cx="2176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modelado predictivo geoespacial para priorizar intervenciones de seguridad vial en la Ciudad de Chicago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4206240"/>
            <a:ext cx="2176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Deivid Julian Cardenas Melo  ·  Dillan Alexander Cardenas Melo  ·  Camilo Escandón Romero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CESMAG · San Juan de Pasto, Colombia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097280" y="681228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6812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676656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8001000"/>
            <a:ext cx="9579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publica a diario los reportes de sus accidentes de tránsito, los permisos de obra y los aforos vehiculares. Son datos abiertos, pero viven en fuentes separadas, con errores de ubicación y sin cruzarse entre sí. Los integramos para responder una pregunta práctica: dónde conviene intervenir primero.</a:t>
            </a:r>
            <a:endParaRPr lang="en-US" sz="2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1109960"/>
          <a:ext cx="9579864" cy="914400"/>
        </p:xfrm>
        <a:graphic>
          <a:graphicData uri="http://schemas.openxmlformats.org/drawingml/2006/table">
            <a:tbl>
              <a:tblPr/>
              <a:tblGrid>
                <a:gridCol w="6322710"/>
                <a:gridCol w="3257154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(Chicago Data Portal)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C8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C8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418.170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Vehículos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853.359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 (anonimizadas)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919.337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de obra CDOT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257.506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Aforos vehiculares (AADT)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1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1.279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097280" y="14996160"/>
            <a:ext cx="957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Periodo: enero 2023 – octubre 2026 · 2,4 millones de registros depurados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11408664" y="681228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08664" y="6812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12460224" y="676656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4600" dirty="0"/>
          </a:p>
        </p:txBody>
      </p:sp>
      <p:sp>
        <p:nvSpPr>
          <p:cNvPr id="19" name="Text 15"/>
          <p:cNvSpPr txBox="1"/>
          <p:nvPr/>
        </p:nvSpPr>
        <p:spPr>
          <a:xfrm>
            <a:off x="11408664" y="8001000"/>
            <a:ext cx="9579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casi cuatro años la ciudad acumuló más de 418 mil siniestros. Los graves son pocos y están dispersos, y el presupuesto para reformar vías solo alcanza para algunos tramos.</a:t>
            </a:r>
            <a:endParaRPr lang="en-US" sz="2500" dirty="0"/>
          </a:p>
        </p:txBody>
      </p:sp>
      <p:sp>
        <p:nvSpPr>
          <p:cNvPr id="20" name="Shape 16"/>
          <p:cNvSpPr/>
          <p:nvPr/>
        </p:nvSpPr>
        <p:spPr>
          <a:xfrm>
            <a:off x="11408664" y="10378440"/>
            <a:ext cx="2964688" cy="2286000"/>
          </a:xfrm>
          <a:prstGeom prst="roundRect">
            <a:avLst>
              <a:gd name="adj" fmla="val 480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408664" y="10561320"/>
            <a:ext cx="296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418.170</a:t>
            </a:r>
            <a:endParaRPr lang="en-US" sz="5000" dirty="0"/>
          </a:p>
        </p:txBody>
      </p:sp>
      <p:sp>
        <p:nvSpPr>
          <p:cNvPr id="22" name="Text 18"/>
          <p:cNvSpPr txBox="1"/>
          <p:nvPr/>
        </p:nvSpPr>
        <p:spPr>
          <a:xfrm>
            <a:off x="11408664" y="11658600"/>
            <a:ext cx="2964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14601952" y="10378440"/>
            <a:ext cx="2964688" cy="2286000"/>
          </a:xfrm>
          <a:prstGeom prst="roundRect">
            <a:avLst>
              <a:gd name="adj" fmla="val 4800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4601952" y="10561320"/>
            <a:ext cx="296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5000" dirty="0"/>
          </a:p>
        </p:txBody>
      </p:sp>
      <p:sp>
        <p:nvSpPr>
          <p:cNvPr id="25" name="Text 21"/>
          <p:cNvSpPr txBox="1"/>
          <p:nvPr/>
        </p:nvSpPr>
        <p:spPr>
          <a:xfrm>
            <a:off x="14601952" y="11658600"/>
            <a:ext cx="2964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fallecidos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17795240" y="10378440"/>
            <a:ext cx="2964688" cy="2286000"/>
          </a:xfrm>
          <a:prstGeom prst="roundRect">
            <a:avLst>
              <a:gd name="adj" fmla="val 480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7795240" y="10561320"/>
            <a:ext cx="296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1,6 %</a:t>
            </a:r>
            <a:endParaRPr lang="en-US" sz="5000" dirty="0"/>
          </a:p>
        </p:txBody>
      </p:sp>
      <p:sp>
        <p:nvSpPr>
          <p:cNvPr id="28" name="Text 24"/>
          <p:cNvSpPr txBox="1"/>
          <p:nvPr/>
        </p:nvSpPr>
        <p:spPr>
          <a:xfrm>
            <a:off x="17795240" y="11658600"/>
            <a:ext cx="2964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graves o fatales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11408664" y="12984480"/>
            <a:ext cx="9579864" cy="2514600"/>
          </a:xfrm>
          <a:prstGeom prst="roundRect">
            <a:avLst>
              <a:gd name="adj" fmla="val 5091"/>
            </a:avLst>
          </a:prstGeom>
          <a:solidFill>
            <a:srgbClr val="0B1C2C"/>
          </a:solidFill>
          <a:ln w="12700">
            <a:solidFill>
              <a:srgbClr val="0B1C2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820144" y="13213080"/>
            <a:ext cx="87569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5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decisión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usar los resultados de un modelo predictivo para priorizar las intervenciones preventivas en los tramos viales de mayor riesgo?</a:t>
            </a:r>
            <a:endParaRPr lang="en-US" sz="2500" dirty="0"/>
          </a:p>
        </p:txBody>
      </p:sp>
      <p:sp>
        <p:nvSpPr>
          <p:cNvPr id="31" name="Shape 27"/>
          <p:cNvSpPr/>
          <p:nvPr/>
        </p:nvSpPr>
        <p:spPr>
          <a:xfrm>
            <a:off x="21720048" y="681228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1720048" y="6812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3" name="Text 29"/>
          <p:cNvSpPr txBox="1"/>
          <p:nvPr/>
        </p:nvSpPr>
        <p:spPr>
          <a:xfrm>
            <a:off x="22771608" y="676656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4600" dirty="0"/>
          </a:p>
        </p:txBody>
      </p:sp>
      <p:sp>
        <p:nvSpPr>
          <p:cNvPr id="34" name="Text 30"/>
          <p:cNvSpPr txBox="1"/>
          <p:nvPr/>
        </p:nvSpPr>
        <p:spPr>
          <a:xfrm>
            <a:off x="21720048" y="8001000"/>
            <a:ext cx="9579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General. 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analítica que identifique y clasifique los tramos viales de mayor riesgo en Chicago, como apoyo a la toma de decisiones en seguridad vial.</a:t>
            </a:r>
            <a:endParaRPr lang="en-US" sz="2400" dirty="0"/>
          </a:p>
        </p:txBody>
      </p:sp>
      <p:sp>
        <p:nvSpPr>
          <p:cNvPr id="35" name="Shape 31"/>
          <p:cNvSpPr/>
          <p:nvPr/>
        </p:nvSpPr>
        <p:spPr>
          <a:xfrm>
            <a:off x="21720048" y="1019556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DDF1F3"/>
          </a:solidFill>
          <a:ln w="12700">
            <a:solidFill>
              <a:srgbClr val="DDF1F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1720048" y="1019556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2400" dirty="0"/>
          </a:p>
        </p:txBody>
      </p:sp>
      <p:sp>
        <p:nvSpPr>
          <p:cNvPr id="37" name="Text 33"/>
          <p:cNvSpPr txBox="1"/>
          <p:nvPr/>
        </p:nvSpPr>
        <p:spPr>
          <a:xfrm>
            <a:off x="23274528" y="10241280"/>
            <a:ext cx="8025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base de datos geoespacial integrada.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 95 % de registros válidos indexados</a:t>
            </a:r>
            <a:endParaRPr lang="en-US" sz="2200" dirty="0"/>
          </a:p>
        </p:txBody>
      </p:sp>
      <p:sp>
        <p:nvSpPr>
          <p:cNvPr id="38" name="Shape 34"/>
          <p:cNvSpPr/>
          <p:nvPr/>
        </p:nvSpPr>
        <p:spPr>
          <a:xfrm>
            <a:off x="21720048" y="11539728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DDF1F3"/>
          </a:solidFill>
          <a:ln w="12700">
            <a:solidFill>
              <a:srgbClr val="DDF1F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1720048" y="11539728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2400" dirty="0"/>
          </a:p>
        </p:txBody>
      </p:sp>
      <p:sp>
        <p:nvSpPr>
          <p:cNvPr id="40" name="Text 36"/>
          <p:cNvSpPr txBox="1"/>
          <p:nvPr/>
        </p:nvSpPr>
        <p:spPr>
          <a:xfrm>
            <a:off x="23274528" y="11585448"/>
            <a:ext cx="8025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integración y depuración de los datos.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 95 % procesado con éxito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21720048" y="12883896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DDF1F3"/>
          </a:solidFill>
          <a:ln w="12700">
            <a:solidFill>
              <a:srgbClr val="DDF1F3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21720048" y="12883896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2400" dirty="0"/>
          </a:p>
        </p:txBody>
      </p:sp>
      <p:sp>
        <p:nvSpPr>
          <p:cNvPr id="43" name="Text 39"/>
          <p:cNvSpPr txBox="1"/>
          <p:nvPr/>
        </p:nvSpPr>
        <p:spPr>
          <a:xfrm>
            <a:off x="23274528" y="12929616"/>
            <a:ext cx="8025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los segmentos viales por nivel de riesgo.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≥ 0,70 y recall ≥ 0,60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21720048" y="14228064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DDF1F3"/>
          </a:solidFill>
          <a:ln w="12700">
            <a:solidFill>
              <a:srgbClr val="DDF1F3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1720048" y="14228064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2400" dirty="0"/>
          </a:p>
        </p:txBody>
      </p:sp>
      <p:sp>
        <p:nvSpPr>
          <p:cNvPr id="46" name="Text 42"/>
          <p:cNvSpPr txBox="1"/>
          <p:nvPr/>
        </p:nvSpPr>
        <p:spPr>
          <a:xfrm>
            <a:off x="23274528" y="14273784"/>
            <a:ext cx="8025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los resultados en una aplicación web.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&lt; 2 min, respuesta &lt; 2 s</a:t>
            </a:r>
            <a:endParaRPr lang="en-US" sz="2200" dirty="0"/>
          </a:p>
        </p:txBody>
      </p:sp>
      <p:sp>
        <p:nvSpPr>
          <p:cNvPr id="47" name="Shape 43"/>
          <p:cNvSpPr/>
          <p:nvPr/>
        </p:nvSpPr>
        <p:spPr>
          <a:xfrm>
            <a:off x="1097280" y="1623060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097280" y="16230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9" name="Text 45"/>
          <p:cNvSpPr txBox="1"/>
          <p:nvPr/>
        </p:nvSpPr>
        <p:spPr>
          <a:xfrm>
            <a:off x="2148840" y="16184880"/>
            <a:ext cx="29151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4600" dirty="0"/>
          </a:p>
        </p:txBody>
      </p:sp>
      <p:sp>
        <p:nvSpPr>
          <p:cNvPr id="50" name="Shape 46"/>
          <p:cNvSpPr/>
          <p:nvPr/>
        </p:nvSpPr>
        <p:spPr>
          <a:xfrm>
            <a:off x="1097280" y="17465040"/>
            <a:ext cx="4538472" cy="1828800"/>
          </a:xfrm>
          <a:prstGeom prst="roundRect">
            <a:avLst>
              <a:gd name="adj" fmla="val 7000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097280" y="17739360"/>
            <a:ext cx="4538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SODA</a:t>
            </a:r>
            <a:endParaRPr lang="en-US" sz="2900" dirty="0"/>
          </a:p>
        </p:txBody>
      </p:sp>
      <p:sp>
        <p:nvSpPr>
          <p:cNvPr id="52" name="Text 48"/>
          <p:cNvSpPr txBox="1"/>
          <p:nvPr/>
        </p:nvSpPr>
        <p:spPr>
          <a:xfrm>
            <a:off x="1188720" y="18470880"/>
            <a:ext cx="435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fuentes abiertas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 rot="5400000">
            <a:off x="5772912" y="18196560"/>
            <a:ext cx="320040" cy="36576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230112" y="17465040"/>
            <a:ext cx="4538472" cy="1828800"/>
          </a:xfrm>
          <a:prstGeom prst="roundRect">
            <a:avLst>
              <a:gd name="adj" fmla="val 7000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230112" y="17739360"/>
            <a:ext cx="4538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900" dirty="0"/>
          </a:p>
        </p:txBody>
      </p:sp>
      <p:sp>
        <p:nvSpPr>
          <p:cNvPr id="56" name="Text 52"/>
          <p:cNvSpPr txBox="1"/>
          <p:nvPr/>
        </p:nvSpPr>
        <p:spPr>
          <a:xfrm>
            <a:off x="6321552" y="18470880"/>
            <a:ext cx="435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crudo</a:t>
            </a:r>
            <a:endParaRPr lang="en-US" sz="2000" dirty="0"/>
          </a:p>
        </p:txBody>
      </p:sp>
      <p:sp>
        <p:nvSpPr>
          <p:cNvPr id="57" name="Shape 53"/>
          <p:cNvSpPr/>
          <p:nvPr/>
        </p:nvSpPr>
        <p:spPr>
          <a:xfrm rot="5400000">
            <a:off x="10905744" y="18196560"/>
            <a:ext cx="320040" cy="36576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1362944" y="17465040"/>
            <a:ext cx="4538472" cy="1828800"/>
          </a:xfrm>
          <a:prstGeom prst="roundRect">
            <a:avLst>
              <a:gd name="adj" fmla="val 7000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1362944" y="17739360"/>
            <a:ext cx="4538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900" dirty="0"/>
          </a:p>
        </p:txBody>
      </p:sp>
      <p:sp>
        <p:nvSpPr>
          <p:cNvPr id="60" name="Text 56"/>
          <p:cNvSpPr txBox="1"/>
          <p:nvPr/>
        </p:nvSpPr>
        <p:spPr>
          <a:xfrm>
            <a:off x="11454384" y="18470880"/>
            <a:ext cx="435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2000" dirty="0"/>
          </a:p>
        </p:txBody>
      </p:sp>
      <p:sp>
        <p:nvSpPr>
          <p:cNvPr id="61" name="Shape 57"/>
          <p:cNvSpPr/>
          <p:nvPr/>
        </p:nvSpPr>
        <p:spPr>
          <a:xfrm rot="5400000">
            <a:off x="16038576" y="18196560"/>
            <a:ext cx="320040" cy="36576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6495776" y="17465040"/>
            <a:ext cx="4538472" cy="1828800"/>
          </a:xfrm>
          <a:prstGeom prst="roundRect">
            <a:avLst>
              <a:gd name="adj" fmla="val 7000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16495776" y="17739360"/>
            <a:ext cx="4538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900" dirty="0"/>
          </a:p>
        </p:txBody>
      </p:sp>
      <p:sp>
        <p:nvSpPr>
          <p:cNvPr id="64" name="Text 60"/>
          <p:cNvSpPr txBox="1"/>
          <p:nvPr/>
        </p:nvSpPr>
        <p:spPr>
          <a:xfrm>
            <a:off x="16587216" y="18470880"/>
            <a:ext cx="435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(OLAP)</a:t>
            </a:r>
            <a:endParaRPr lang="en-US" sz="2000" dirty="0"/>
          </a:p>
        </p:txBody>
      </p:sp>
      <p:sp>
        <p:nvSpPr>
          <p:cNvPr id="65" name="Shape 61"/>
          <p:cNvSpPr/>
          <p:nvPr/>
        </p:nvSpPr>
        <p:spPr>
          <a:xfrm rot="5400000">
            <a:off x="21171408" y="18196560"/>
            <a:ext cx="320040" cy="36576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21628608" y="17465040"/>
            <a:ext cx="4538472" cy="1828800"/>
          </a:xfrm>
          <a:prstGeom prst="roundRect">
            <a:avLst>
              <a:gd name="adj" fmla="val 7000"/>
            </a:avLst>
          </a:prstGeom>
          <a:solidFill>
            <a:srgbClr val="D9620E"/>
          </a:solidFill>
          <a:ln w="12700">
            <a:solidFill>
              <a:srgbClr val="D9620E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21628608" y="17739360"/>
            <a:ext cx="4538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2900" dirty="0"/>
          </a:p>
        </p:txBody>
      </p:sp>
      <p:sp>
        <p:nvSpPr>
          <p:cNvPr id="68" name="Text 64"/>
          <p:cNvSpPr txBox="1"/>
          <p:nvPr/>
        </p:nvSpPr>
        <p:spPr>
          <a:xfrm>
            <a:off x="21720048" y="18470880"/>
            <a:ext cx="435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· RF · XGBoost</a:t>
            </a:r>
            <a:endParaRPr lang="en-US" sz="2000" dirty="0"/>
          </a:p>
        </p:txBody>
      </p:sp>
      <p:sp>
        <p:nvSpPr>
          <p:cNvPr id="69" name="Shape 65"/>
          <p:cNvSpPr/>
          <p:nvPr/>
        </p:nvSpPr>
        <p:spPr>
          <a:xfrm rot="5400000">
            <a:off x="26304240" y="18196560"/>
            <a:ext cx="320040" cy="36576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26761440" y="17465040"/>
            <a:ext cx="4538472" cy="1828800"/>
          </a:xfrm>
          <a:prstGeom prst="roundRect">
            <a:avLst>
              <a:gd name="adj" fmla="val 7000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26761440" y="17739360"/>
            <a:ext cx="4538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2900" dirty="0"/>
          </a:p>
        </p:txBody>
      </p:sp>
      <p:sp>
        <p:nvSpPr>
          <p:cNvPr id="72" name="Text 68"/>
          <p:cNvSpPr txBox="1"/>
          <p:nvPr/>
        </p:nvSpPr>
        <p:spPr>
          <a:xfrm>
            <a:off x="26852880" y="18470880"/>
            <a:ext cx="435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+ MapLibre</a:t>
            </a:r>
            <a:endParaRPr lang="en-US" sz="2000" dirty="0"/>
          </a:p>
        </p:txBody>
      </p:sp>
      <p:sp>
        <p:nvSpPr>
          <p:cNvPr id="73" name="Shape 69"/>
          <p:cNvSpPr/>
          <p:nvPr/>
        </p:nvSpPr>
        <p:spPr>
          <a:xfrm>
            <a:off x="1097280" y="19705320"/>
            <a:ext cx="7207758" cy="356616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1463040" y="19979640"/>
            <a:ext cx="6476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calidad</a:t>
            </a:r>
            <a:endParaRPr lang="en-US" sz="2800" dirty="0"/>
          </a:p>
        </p:txBody>
      </p:sp>
      <p:sp>
        <p:nvSpPr>
          <p:cNvPr id="75" name="Text 71"/>
          <p:cNvSpPr txBox="1"/>
          <p:nvPr/>
        </p:nvSpPr>
        <p:spPr>
          <a:xfrm>
            <a:off x="1463040" y="20665440"/>
            <a:ext cx="647623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paginada desde la API con reintentos. Validación de tipos, deduplicación y cuarentena de puntos fuera de Chicago. Sin datos personales de las víctimas.</a:t>
            </a:r>
            <a:endParaRPr lang="en-US" sz="2400" dirty="0"/>
          </a:p>
        </p:txBody>
      </p:sp>
      <p:sp>
        <p:nvSpPr>
          <p:cNvPr id="76" name="Shape 72"/>
          <p:cNvSpPr/>
          <p:nvPr/>
        </p:nvSpPr>
        <p:spPr>
          <a:xfrm>
            <a:off x="8762238" y="19705320"/>
            <a:ext cx="7207758" cy="356616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9127998" y="19979640"/>
            <a:ext cx="6476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espacial</a:t>
            </a:r>
            <a:endParaRPr lang="en-US" sz="2800" dirty="0"/>
          </a:p>
        </p:txBody>
      </p:sp>
      <p:sp>
        <p:nvSpPr>
          <p:cNvPr id="78" name="Text 74"/>
          <p:cNvSpPr txBox="1"/>
          <p:nvPr/>
        </p:nvSpPr>
        <p:spPr>
          <a:xfrm>
            <a:off x="9127998" y="20665440"/>
            <a:ext cx="647623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siniestro se une a la estación de aforo más cercana y a las obras con cierre de calzada vigentes a menos de 250 m, medidos en metros reales (EPSG:3435).</a:t>
            </a:r>
            <a:endParaRPr lang="en-US" sz="2400" dirty="0"/>
          </a:p>
        </p:txBody>
      </p:sp>
      <p:sp>
        <p:nvSpPr>
          <p:cNvPr id="79" name="Shape 75"/>
          <p:cNvSpPr/>
          <p:nvPr/>
        </p:nvSpPr>
        <p:spPr>
          <a:xfrm>
            <a:off x="16427196" y="19705320"/>
            <a:ext cx="7207758" cy="356616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16792956" y="19979640"/>
            <a:ext cx="6476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2800" dirty="0"/>
          </a:p>
        </p:txBody>
      </p:sp>
      <p:sp>
        <p:nvSpPr>
          <p:cNvPr id="81" name="Text 77"/>
          <p:cNvSpPr txBox="1"/>
          <p:nvPr/>
        </p:nvSpPr>
        <p:spPr>
          <a:xfrm>
            <a:off x="16792956" y="20665440"/>
            <a:ext cx="647623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es la cuadra. Con 12 meses de historia se anticipa su riesgo de los 12 siguientes: Bajo, Medio o Alto. Se comparan tres algoritmos.</a:t>
            </a:r>
            <a:endParaRPr lang="en-US" sz="2400" dirty="0"/>
          </a:p>
        </p:txBody>
      </p:sp>
      <p:sp>
        <p:nvSpPr>
          <p:cNvPr id="82" name="Shape 78"/>
          <p:cNvSpPr/>
          <p:nvPr/>
        </p:nvSpPr>
        <p:spPr>
          <a:xfrm>
            <a:off x="24092154" y="19705320"/>
            <a:ext cx="7207758" cy="356616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24457914" y="19979640"/>
            <a:ext cx="6476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2800" dirty="0"/>
          </a:p>
        </p:txBody>
      </p:sp>
      <p:sp>
        <p:nvSpPr>
          <p:cNvPr id="84" name="Text 80"/>
          <p:cNvSpPr txBox="1"/>
          <p:nvPr/>
        </p:nvSpPr>
        <p:spPr>
          <a:xfrm>
            <a:off x="24457914" y="20665440"/>
            <a:ext cx="647623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tiempo: se entrena con 2023 → 2024 y se evalúa prediciendo 2025 contra lo que realmente ocurrió. Además, validación cruzada por bloques de 2 km.</a:t>
            </a:r>
            <a:endParaRPr lang="en-US" sz="2400" dirty="0"/>
          </a:p>
        </p:txBody>
      </p:sp>
      <p:sp>
        <p:nvSpPr>
          <p:cNvPr id="85" name="Shape 81"/>
          <p:cNvSpPr/>
          <p:nvPr/>
        </p:nvSpPr>
        <p:spPr>
          <a:xfrm>
            <a:off x="1097280" y="2395728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1097280" y="2395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87" name="Text 83"/>
          <p:cNvSpPr txBox="1"/>
          <p:nvPr/>
        </p:nvSpPr>
        <p:spPr>
          <a:xfrm>
            <a:off x="2148840" y="23911560"/>
            <a:ext cx="29151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4600" dirty="0"/>
          </a:p>
        </p:txBody>
      </p:sp>
      <p:sp>
        <p:nvSpPr>
          <p:cNvPr id="88" name="Shape 84"/>
          <p:cNvSpPr/>
          <p:nvPr/>
        </p:nvSpPr>
        <p:spPr>
          <a:xfrm>
            <a:off x="1097280" y="25191720"/>
            <a:ext cx="6949440" cy="6583680"/>
          </a:xfrm>
          <a:prstGeom prst="roundRect">
            <a:avLst>
              <a:gd name="adj" fmla="val 2083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1097280" y="255574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41,5 %</a:t>
            </a:r>
            <a:endParaRPr lang="en-US" sz="11200" dirty="0"/>
          </a:p>
        </p:txBody>
      </p:sp>
      <p:sp>
        <p:nvSpPr>
          <p:cNvPr id="90" name="Text 86"/>
          <p:cNvSpPr txBox="1"/>
          <p:nvPr/>
        </p:nvSpPr>
        <p:spPr>
          <a:xfrm>
            <a:off x="1554480" y="274777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siniestros graves de 2025 ocurrió en el 10 % de cuadras que el modelo priorizó con datos de 2024</a:t>
            </a:r>
            <a:endParaRPr lang="en-US" sz="2500" dirty="0"/>
          </a:p>
        </p:txBody>
      </p:sp>
      <p:sp>
        <p:nvSpPr>
          <p:cNvPr id="91" name="Text 87"/>
          <p:cNvSpPr txBox="1"/>
          <p:nvPr/>
        </p:nvSpPr>
        <p:spPr>
          <a:xfrm>
            <a:off x="1554480" y="29626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veces más que elegir cuadras al azar</a:t>
            </a:r>
            <a:endParaRPr lang="en-US" sz="2500" dirty="0"/>
          </a:p>
        </p:txBody>
      </p:sp>
      <p:sp>
        <p:nvSpPr>
          <p:cNvPr id="92" name="Text 88"/>
          <p:cNvSpPr txBox="1"/>
          <p:nvPr/>
        </p:nvSpPr>
        <p:spPr>
          <a:xfrm>
            <a:off x="1554480" y="306324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21.416 cuadras evaluadas · AUC 0,80</a:t>
            </a:r>
            <a:endParaRPr lang="en-US" sz="2200" dirty="0"/>
          </a:p>
        </p:txBody>
      </p:sp>
      <p:graphicFrame>
        <p:nvGraphicFramePr>
          <p:cNvPr id="93" name="Chart 0" descr=""/>
          <p:cNvGraphicFramePr/>
          <p:nvPr/>
        </p:nvGraphicFramePr>
        <p:xfrm>
          <a:off x="8503920" y="25100280"/>
          <a:ext cx="7680960" cy="6675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4" name="Chart 1" descr=""/>
          <p:cNvGraphicFramePr/>
          <p:nvPr/>
        </p:nvGraphicFramePr>
        <p:xfrm>
          <a:off x="16550640" y="25100280"/>
          <a:ext cx="7680960" cy="6675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5" name="Text 89"/>
          <p:cNvSpPr txBox="1"/>
          <p:nvPr/>
        </p:nvSpPr>
        <p:spPr>
          <a:xfrm>
            <a:off x="24597360" y="25191720"/>
            <a:ext cx="670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 2025</a:t>
            </a:r>
            <a:endParaRPr lang="en-US" sz="2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597360" y="25877520"/>
          <a:ext cx="6702552" cy="914400"/>
        </p:xfrm>
        <a:graphic>
          <a:graphicData uri="http://schemas.openxmlformats.org/drawingml/2006/table">
            <a:tbl>
              <a:tblPr/>
              <a:tblGrid>
                <a:gridCol w="2546970"/>
                <a:gridCol w="1273485"/>
                <a:gridCol w="1340510"/>
                <a:gridCol w="1541587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 ★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41,5 %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38,1 %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97" name="Text 90"/>
          <p:cNvSpPr txBox="1"/>
          <p:nvPr/>
        </p:nvSpPr>
        <p:spPr>
          <a:xfrm>
            <a:off x="24597360" y="28895040"/>
            <a:ext cx="67025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elegido: capta más graves en el top 10 % y es el más fácil de explicar. Validación espacial estable: variación del AUC menor al 0,5 %.</a:t>
            </a:r>
            <a:endParaRPr lang="en-US" sz="1900" dirty="0"/>
          </a:p>
        </p:txBody>
      </p:sp>
      <p:sp>
        <p:nvSpPr>
          <p:cNvPr id="98" name="Shape 91"/>
          <p:cNvSpPr/>
          <p:nvPr/>
        </p:nvSpPr>
        <p:spPr>
          <a:xfrm>
            <a:off x="1097280" y="32141160"/>
            <a:ext cx="5747918" cy="1417320"/>
          </a:xfrm>
          <a:prstGeom prst="roundRect">
            <a:avLst>
              <a:gd name="adj" fmla="val 645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1371600" y="32278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98,9 %</a:t>
            </a:r>
            <a:endParaRPr lang="en-US" sz="3800" dirty="0"/>
          </a:p>
        </p:txBody>
      </p:sp>
      <p:sp>
        <p:nvSpPr>
          <p:cNvPr id="100" name="Text 93"/>
          <p:cNvSpPr txBox="1"/>
          <p:nvPr/>
        </p:nvSpPr>
        <p:spPr>
          <a:xfrm>
            <a:off x="3611880" y="32278320"/>
            <a:ext cx="3050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procesados</a:t>
            </a:r>
            <a:endParaRPr lang="en-US" sz="2000" dirty="0"/>
          </a:p>
        </p:txBody>
      </p:sp>
      <p:sp>
        <p:nvSpPr>
          <p:cNvPr id="101" name="Shape 94"/>
          <p:cNvSpPr/>
          <p:nvPr/>
        </p:nvSpPr>
        <p:spPr>
          <a:xfrm>
            <a:off x="7210958" y="32141160"/>
            <a:ext cx="5747918" cy="1417320"/>
          </a:xfrm>
          <a:prstGeom prst="roundRect">
            <a:avLst>
              <a:gd name="adj" fmla="val 645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2" name="Text 95"/>
          <p:cNvSpPr txBox="1"/>
          <p:nvPr/>
        </p:nvSpPr>
        <p:spPr>
          <a:xfrm>
            <a:off x="7485278" y="32278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3800" dirty="0"/>
          </a:p>
        </p:txBody>
      </p:sp>
      <p:sp>
        <p:nvSpPr>
          <p:cNvPr id="103" name="Text 96"/>
          <p:cNvSpPr txBox="1"/>
          <p:nvPr/>
        </p:nvSpPr>
        <p:spPr>
          <a:xfrm>
            <a:off x="9725558" y="32278320"/>
            <a:ext cx="3050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2000" dirty="0"/>
          </a:p>
        </p:txBody>
      </p:sp>
      <p:sp>
        <p:nvSpPr>
          <p:cNvPr id="104" name="Shape 97"/>
          <p:cNvSpPr/>
          <p:nvPr/>
        </p:nvSpPr>
        <p:spPr>
          <a:xfrm>
            <a:off x="13324637" y="32141160"/>
            <a:ext cx="5747918" cy="1417320"/>
          </a:xfrm>
          <a:prstGeom prst="roundRect">
            <a:avLst>
              <a:gd name="adj" fmla="val 645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5" name="Text 98"/>
          <p:cNvSpPr txBox="1"/>
          <p:nvPr/>
        </p:nvSpPr>
        <p:spPr>
          <a:xfrm>
            <a:off x="13598957" y="32278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0,708</a:t>
            </a:r>
            <a:endParaRPr lang="en-US" sz="3800" dirty="0"/>
          </a:p>
        </p:txBody>
      </p:sp>
      <p:sp>
        <p:nvSpPr>
          <p:cNvPr id="106" name="Text 99"/>
          <p:cNvSpPr txBox="1"/>
          <p:nvPr/>
        </p:nvSpPr>
        <p:spPr>
          <a:xfrm>
            <a:off x="15839237" y="32278320"/>
            <a:ext cx="3050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modelo por siniestro</a:t>
            </a:r>
            <a:endParaRPr lang="en-US" sz="2000" dirty="0"/>
          </a:p>
        </p:txBody>
      </p:sp>
      <p:sp>
        <p:nvSpPr>
          <p:cNvPr id="107" name="Shape 100"/>
          <p:cNvSpPr/>
          <p:nvPr/>
        </p:nvSpPr>
        <p:spPr>
          <a:xfrm>
            <a:off x="19438315" y="32141160"/>
            <a:ext cx="5747918" cy="1417320"/>
          </a:xfrm>
          <a:prstGeom prst="roundRect">
            <a:avLst>
              <a:gd name="adj" fmla="val 645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8" name="Text 101"/>
          <p:cNvSpPr txBox="1"/>
          <p:nvPr/>
        </p:nvSpPr>
        <p:spPr>
          <a:xfrm>
            <a:off x="19712635" y="32278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</a:t>
            </a:r>
            <a:endParaRPr lang="en-US" sz="3800" dirty="0"/>
          </a:p>
        </p:txBody>
      </p:sp>
      <p:sp>
        <p:nvSpPr>
          <p:cNvPr id="109" name="Text 102"/>
          <p:cNvSpPr txBox="1"/>
          <p:nvPr/>
        </p:nvSpPr>
        <p:spPr>
          <a:xfrm>
            <a:off x="21952915" y="32278320"/>
            <a:ext cx="3050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Docker</a:t>
            </a:r>
            <a:endParaRPr lang="en-US" sz="2000" dirty="0"/>
          </a:p>
        </p:txBody>
      </p:sp>
      <p:sp>
        <p:nvSpPr>
          <p:cNvPr id="110" name="Shape 103"/>
          <p:cNvSpPr/>
          <p:nvPr/>
        </p:nvSpPr>
        <p:spPr>
          <a:xfrm>
            <a:off x="25551994" y="32141160"/>
            <a:ext cx="5747918" cy="1417320"/>
          </a:xfrm>
          <a:prstGeom prst="roundRect">
            <a:avLst>
              <a:gd name="adj" fmla="val 6452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1" name="Text 104"/>
          <p:cNvSpPr txBox="1"/>
          <p:nvPr/>
        </p:nvSpPr>
        <p:spPr>
          <a:xfrm>
            <a:off x="25826314" y="32278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0,76 s</a:t>
            </a:r>
            <a:endParaRPr lang="en-US" sz="3800" dirty="0"/>
          </a:p>
        </p:txBody>
      </p:sp>
      <p:sp>
        <p:nvSpPr>
          <p:cNvPr id="112" name="Text 105"/>
          <p:cNvSpPr txBox="1"/>
          <p:nvPr/>
        </p:nvSpPr>
        <p:spPr>
          <a:xfrm>
            <a:off x="28066594" y="32278320"/>
            <a:ext cx="3050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media (50 usuarios)</a:t>
            </a:r>
            <a:endParaRPr lang="en-US" sz="2000" dirty="0"/>
          </a:p>
        </p:txBody>
      </p:sp>
      <p:sp>
        <p:nvSpPr>
          <p:cNvPr id="113" name="Shape 106"/>
          <p:cNvSpPr/>
          <p:nvPr/>
        </p:nvSpPr>
        <p:spPr>
          <a:xfrm>
            <a:off x="1097280" y="3429000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14" name="Text 107"/>
          <p:cNvSpPr txBox="1"/>
          <p:nvPr/>
        </p:nvSpPr>
        <p:spPr>
          <a:xfrm>
            <a:off x="1097280" y="34290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15" name="Text 108"/>
          <p:cNvSpPr txBox="1"/>
          <p:nvPr/>
        </p:nvSpPr>
        <p:spPr>
          <a:xfrm>
            <a:off x="2148840" y="34244280"/>
            <a:ext cx="29151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para la ciudad</a:t>
            </a:r>
            <a:endParaRPr lang="en-US" sz="4600" dirty="0"/>
          </a:p>
        </p:txBody>
      </p:sp>
      <p:sp>
        <p:nvSpPr>
          <p:cNvPr id="116" name="Shape 109"/>
          <p:cNvSpPr/>
          <p:nvPr/>
        </p:nvSpPr>
        <p:spPr>
          <a:xfrm>
            <a:off x="1097280" y="35524440"/>
            <a:ext cx="7207758" cy="2606040"/>
          </a:xfrm>
          <a:prstGeom prst="roundRect">
            <a:avLst>
              <a:gd name="adj" fmla="val 4912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17" name="Text 110"/>
          <p:cNvSpPr txBox="1"/>
          <p:nvPr/>
        </p:nvSpPr>
        <p:spPr>
          <a:xfrm>
            <a:off x="1463040" y="35798760"/>
            <a:ext cx="3184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Peatones</a:t>
            </a:r>
            <a:endParaRPr lang="en-US" sz="3000" dirty="0"/>
          </a:p>
        </p:txBody>
      </p:sp>
      <p:sp>
        <p:nvSpPr>
          <p:cNvPr id="118" name="Text 111"/>
          <p:cNvSpPr txBox="1"/>
          <p:nvPr/>
        </p:nvSpPr>
        <p:spPr>
          <a:xfrm>
            <a:off x="4281678" y="3570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4600" dirty="0"/>
          </a:p>
        </p:txBody>
      </p:sp>
      <p:sp>
        <p:nvSpPr>
          <p:cNvPr id="119" name="Text 112"/>
          <p:cNvSpPr txBox="1"/>
          <p:nvPr/>
        </p:nvSpPr>
        <p:spPr>
          <a:xfrm>
            <a:off x="1463040" y="36758880"/>
            <a:ext cx="64762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14,4 % de los atropellos termina en lesión grave o muerte, frente al 1,6 % promedio.</a:t>
            </a:r>
            <a:endParaRPr lang="en-US" sz="2100" dirty="0"/>
          </a:p>
        </p:txBody>
      </p:sp>
      <p:sp>
        <p:nvSpPr>
          <p:cNvPr id="120" name="Shape 113"/>
          <p:cNvSpPr/>
          <p:nvPr/>
        </p:nvSpPr>
        <p:spPr>
          <a:xfrm>
            <a:off x="8762238" y="35524440"/>
            <a:ext cx="7207758" cy="2606040"/>
          </a:xfrm>
          <a:prstGeom prst="roundRect">
            <a:avLst>
              <a:gd name="adj" fmla="val 4912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21" name="Text 114"/>
          <p:cNvSpPr txBox="1"/>
          <p:nvPr/>
        </p:nvSpPr>
        <p:spPr>
          <a:xfrm>
            <a:off x="9127998" y="35798760"/>
            <a:ext cx="3184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3000" dirty="0"/>
          </a:p>
        </p:txBody>
      </p:sp>
      <p:sp>
        <p:nvSpPr>
          <p:cNvPr id="122" name="Text 115"/>
          <p:cNvSpPr txBox="1"/>
          <p:nvPr/>
        </p:nvSpPr>
        <p:spPr>
          <a:xfrm>
            <a:off x="11946636" y="3570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 → 3,5 %</a:t>
            </a:r>
            <a:endParaRPr lang="en-US" sz="4600" dirty="0"/>
          </a:p>
        </p:txBody>
      </p:sp>
      <p:sp>
        <p:nvSpPr>
          <p:cNvPr id="123" name="Text 116"/>
          <p:cNvSpPr txBox="1"/>
          <p:nvPr/>
        </p:nvSpPr>
        <p:spPr>
          <a:xfrm>
            <a:off x="9127998" y="36758880"/>
            <a:ext cx="64762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 siniestros graves crece sin excepción de 15 a 40 mph.</a:t>
            </a:r>
            <a:endParaRPr lang="en-US" sz="2100" dirty="0"/>
          </a:p>
        </p:txBody>
      </p:sp>
      <p:sp>
        <p:nvSpPr>
          <p:cNvPr id="124" name="Shape 117"/>
          <p:cNvSpPr/>
          <p:nvPr/>
        </p:nvSpPr>
        <p:spPr>
          <a:xfrm>
            <a:off x="16427196" y="35524440"/>
            <a:ext cx="7207758" cy="2606040"/>
          </a:xfrm>
          <a:prstGeom prst="roundRect">
            <a:avLst>
              <a:gd name="adj" fmla="val 4912"/>
            </a:avLst>
          </a:prstGeom>
          <a:solidFill>
            <a:srgbClr val="DDF1F3"/>
          </a:solidFill>
          <a:ln w="12700">
            <a:solidFill>
              <a:srgbClr val="DDF1F3"/>
            </a:solidFill>
            <a:prstDash val="solid"/>
          </a:ln>
        </p:spPr>
      </p:sp>
      <p:sp>
        <p:nvSpPr>
          <p:cNvPr id="125" name="Text 118"/>
          <p:cNvSpPr txBox="1"/>
          <p:nvPr/>
        </p:nvSpPr>
        <p:spPr>
          <a:xfrm>
            <a:off x="16792956" y="35798760"/>
            <a:ext cx="3184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Corredores</a:t>
            </a:r>
            <a:endParaRPr lang="en-US" sz="3000" dirty="0"/>
          </a:p>
        </p:txBody>
      </p:sp>
      <p:sp>
        <p:nvSpPr>
          <p:cNvPr id="126" name="Text 119"/>
          <p:cNvSpPr txBox="1"/>
          <p:nvPr/>
        </p:nvSpPr>
        <p:spPr>
          <a:xfrm>
            <a:off x="19611594" y="3570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127" name="Text 120"/>
          <p:cNvSpPr txBox="1"/>
          <p:nvPr/>
        </p:nvSpPr>
        <p:spPr>
          <a:xfrm>
            <a:off x="16792956" y="36758880"/>
            <a:ext cx="64762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Western, Pulaski, Cicero, Halsted y Ashland concentran más siniestros graves.</a:t>
            </a:r>
            <a:endParaRPr lang="en-US" sz="2100" dirty="0"/>
          </a:p>
        </p:txBody>
      </p:sp>
      <p:sp>
        <p:nvSpPr>
          <p:cNvPr id="128" name="Shape 121"/>
          <p:cNvSpPr/>
          <p:nvPr/>
        </p:nvSpPr>
        <p:spPr>
          <a:xfrm>
            <a:off x="24092154" y="35524440"/>
            <a:ext cx="7207758" cy="2606040"/>
          </a:xfrm>
          <a:prstGeom prst="roundRect">
            <a:avLst>
              <a:gd name="adj" fmla="val 4912"/>
            </a:avLst>
          </a:prstGeom>
          <a:solidFill>
            <a:srgbClr val="DDF1F3"/>
          </a:solidFill>
          <a:ln w="12700">
            <a:solidFill>
              <a:srgbClr val="DDF1F3"/>
            </a:solidFill>
            <a:prstDash val="solid"/>
          </a:ln>
        </p:spPr>
      </p:sp>
      <p:sp>
        <p:nvSpPr>
          <p:cNvPr id="129" name="Text 122"/>
          <p:cNvSpPr txBox="1"/>
          <p:nvPr/>
        </p:nvSpPr>
        <p:spPr>
          <a:xfrm>
            <a:off x="24457914" y="35798760"/>
            <a:ext cx="3184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</a:t>
            </a:r>
            <a:endParaRPr lang="en-US" sz="3000" dirty="0"/>
          </a:p>
        </p:txBody>
      </p:sp>
      <p:sp>
        <p:nvSpPr>
          <p:cNvPr id="130" name="Text 123"/>
          <p:cNvSpPr txBox="1"/>
          <p:nvPr/>
        </p:nvSpPr>
        <p:spPr>
          <a:xfrm>
            <a:off x="27276552" y="3570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4600" dirty="0"/>
          </a:p>
        </p:txBody>
      </p:sp>
      <p:sp>
        <p:nvSpPr>
          <p:cNvPr id="131" name="Text 124"/>
          <p:cNvSpPr txBox="1"/>
          <p:nvPr/>
        </p:nvSpPr>
        <p:spPr>
          <a:xfrm>
            <a:off x="24457914" y="36758880"/>
            <a:ext cx="64762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obras con cierre no aumentan la gravedad: 1,51 % con obra frente a 1,60 % sin ella.</a:t>
            </a:r>
            <a:endParaRPr lang="en-US" sz="2100" dirty="0"/>
          </a:p>
        </p:txBody>
      </p:sp>
      <p:sp>
        <p:nvSpPr>
          <p:cNvPr id="132" name="Shape 125"/>
          <p:cNvSpPr/>
          <p:nvPr/>
        </p:nvSpPr>
        <p:spPr>
          <a:xfrm>
            <a:off x="1097280" y="3886200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33" name="Text 126"/>
          <p:cNvSpPr txBox="1"/>
          <p:nvPr/>
        </p:nvSpPr>
        <p:spPr>
          <a:xfrm>
            <a:off x="1097280" y="3886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34" name="Text 127"/>
          <p:cNvSpPr txBox="1"/>
          <p:nvPr/>
        </p:nvSpPr>
        <p:spPr>
          <a:xfrm>
            <a:off x="2148840" y="38816280"/>
            <a:ext cx="18839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600" dirty="0"/>
          </a:p>
        </p:txBody>
      </p:sp>
      <p:sp>
        <p:nvSpPr>
          <p:cNvPr id="135" name="Text 128"/>
          <p:cNvSpPr txBox="1"/>
          <p:nvPr/>
        </p:nvSpPr>
        <p:spPr>
          <a:xfrm>
            <a:off x="1097280" y="40005000"/>
            <a:ext cx="198912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Interviniendo el 10 % de cuadras que señala el modelo se cubre el 41,5 % de los siniestros graves del año siguiente.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simple y explicable (regresión logística) prioriza tan bien como Random Forest y XGBoost.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de 30 a 25 mph y proteger los cruces peatonales en las cuadras priorizadas es la medida con más respaldo.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en casos graves (0,07) no alcanzó la meta: con 1,6 % de casos, conviene evaluar por captura y lift.</a:t>
            </a:r>
            <a:endParaRPr lang="en-US" sz="2300" dirty="0"/>
          </a:p>
        </p:txBody>
      </p:sp>
      <p:sp>
        <p:nvSpPr>
          <p:cNvPr id="136" name="Shape 129"/>
          <p:cNvSpPr/>
          <p:nvPr/>
        </p:nvSpPr>
        <p:spPr>
          <a:xfrm>
            <a:off x="21720048" y="3886200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37" name="Text 130"/>
          <p:cNvSpPr txBox="1"/>
          <p:nvPr/>
        </p:nvSpPr>
        <p:spPr>
          <a:xfrm>
            <a:off x="21720048" y="3886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38" name="Text 131"/>
          <p:cNvSpPr txBox="1"/>
          <p:nvPr/>
        </p:nvSpPr>
        <p:spPr>
          <a:xfrm>
            <a:off x="22771608" y="3881628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</a:t>
            </a:r>
            <a:endParaRPr lang="en-US" sz="4600" dirty="0"/>
          </a:p>
        </p:txBody>
      </p:sp>
      <p:sp>
        <p:nvSpPr>
          <p:cNvPr id="139" name="Text 132"/>
          <p:cNvSpPr txBox="1"/>
          <p:nvPr/>
        </p:nvSpPr>
        <p:spPr>
          <a:xfrm>
            <a:off x="21720048" y="40005000"/>
            <a:ext cx="957986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Chicago. (2026). Traffic Crashes: Crashes, Vehicles y People [Datos]. Chicago Data Portal. https://data.cityofchicago.org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Chicago. (2026). Transportation Department Permits [Datos]. Chicago Data Portal.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Proc. KDD ’16, 785–794.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Ester, M., Kriegel, H.-P., Sander, J., &amp; Xu, X. (1996). A density-based algorithm for discovering clusters. Proc. KDD-96, 226–231.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 JMLR, 12, 2825–2830.</a:t>
            </a:r>
            <a:endParaRPr lang="en-US" sz="1600" dirty="0"/>
          </a:p>
        </p:txBody>
      </p:sp>
      <p:sp>
        <p:nvSpPr>
          <p:cNvPr id="140" name="Text 133"/>
          <p:cNvSpPr txBox="1"/>
          <p:nvPr/>
        </p:nvSpPr>
        <p:spPr>
          <a:xfrm>
            <a:off x="1097280" y="42464736"/>
            <a:ext cx="30202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impreso y demostración en vivo en el stand  ·  github.com/DeividCardenas/proyecto_final_espe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Road Risk - Póster</dc:title>
  <dc:subject>PptxGenJS Presentation</dc:subject>
  <dc:creator>Deivid Cardenas, Dillan Alexander Cardenas, Camilo Escandón</dc:creator>
  <cp:lastModifiedBy>Deivid Cardenas, Dillan Alexander Cardenas, Camilo Escandón</cp:lastModifiedBy>
  <cp:revision>1</cp:revision>
  <dcterms:created xsi:type="dcterms:W3CDTF">2026-10-24T14:51:00Z</dcterms:created>
  <dcterms:modified xsi:type="dcterms:W3CDTF">2026-10-24T14:51:00Z</dcterms:modified>
</cp:coreProperties>
</file>